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769" r:id="rId3"/>
    <p:sldId id="805" r:id="rId4"/>
    <p:sldId id="806" r:id="rId5"/>
    <p:sldId id="322" r:id="rId6"/>
    <p:sldId id="807" r:id="rId7"/>
    <p:sldId id="800" r:id="rId8"/>
    <p:sldId id="754" r:id="rId9"/>
    <p:sldId id="808" r:id="rId10"/>
    <p:sldId id="776" r:id="rId11"/>
    <p:sldId id="809" r:id="rId12"/>
    <p:sldId id="780" r:id="rId13"/>
    <p:sldId id="811" r:id="rId14"/>
    <p:sldId id="813" r:id="rId15"/>
    <p:sldId id="814" r:id="rId16"/>
    <p:sldId id="821" r:id="rId17"/>
    <p:sldId id="815" r:id="rId18"/>
    <p:sldId id="816" r:id="rId19"/>
    <p:sldId id="817" r:id="rId20"/>
    <p:sldId id="818" r:id="rId21"/>
    <p:sldId id="819" r:id="rId22"/>
    <p:sldId id="820" r:id="rId23"/>
    <p:sldId id="822" r:id="rId24"/>
    <p:sldId id="823" r:id="rId25"/>
    <p:sldId id="824" r:id="rId26"/>
    <p:sldId id="826" r:id="rId27"/>
    <p:sldId id="825" r:id="rId28"/>
    <p:sldId id="804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B7718181-3EC3-4BFD-84C1-81088FED8DCA}">
          <p14:sldIdLst>
            <p14:sldId id="256"/>
          </p14:sldIdLst>
        </p14:section>
        <p14:section name="Background" id="{4CE06670-D689-4644-BC25-AAB5530F6B2B}">
          <p14:sldIdLst>
            <p14:sldId id="769"/>
            <p14:sldId id="805"/>
            <p14:sldId id="806"/>
            <p14:sldId id="322"/>
            <p14:sldId id="807"/>
            <p14:sldId id="800"/>
            <p14:sldId id="754"/>
            <p14:sldId id="808"/>
            <p14:sldId id="776"/>
            <p14:sldId id="809"/>
            <p14:sldId id="780"/>
            <p14:sldId id="811"/>
            <p14:sldId id="813"/>
            <p14:sldId id="814"/>
            <p14:sldId id="821"/>
          </p14:sldIdLst>
        </p14:section>
        <p14:section name="Framework" id="{9F27D5B3-F67A-4F86-B739-4B4D3B6BD21F}">
          <p14:sldIdLst>
            <p14:sldId id="815"/>
            <p14:sldId id="816"/>
            <p14:sldId id="817"/>
            <p14:sldId id="818"/>
            <p14:sldId id="819"/>
            <p14:sldId id="820"/>
            <p14:sldId id="822"/>
            <p14:sldId id="823"/>
            <p14:sldId id="824"/>
            <p14:sldId id="826"/>
            <p14:sldId id="825"/>
            <p14:sldId id="8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46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2" autoAdjust="0"/>
    <p:restoredTop sz="91438" autoAdjust="0"/>
  </p:normalViewPr>
  <p:slideViewPr>
    <p:cSldViewPr snapToGrid="0">
      <p:cViewPr varScale="1">
        <p:scale>
          <a:sx n="88" d="100"/>
          <a:sy n="88" d="100"/>
        </p:scale>
        <p:origin x="141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3B898-A726-47AD-ADBA-39B9A4FE8D7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8D2EC-D5DD-40FF-836C-D2B3678831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6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169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349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Figure from Y. Lipman et. al, Flow Matching Guide and Code, https://arxiv.org/abs/2412.06264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360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Figure from Y. Lipman et. al, Flow Matching Guide and Code, https://arxiv.org/abs/2412.06264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7B6F-1AC4-4B64-A979-171E23BF5A3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028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这里下面</a:t>
            </a:r>
            <a:r>
              <a:rPr lang="en-US" altLang="zh-CN" dirty="0"/>
              <a:t>x1</a:t>
            </a:r>
            <a:r>
              <a:rPr lang="zh-CN" altLang="en-US" dirty="0"/>
              <a:t>就是上面的</a:t>
            </a:r>
            <a:r>
              <a:rPr lang="en-US" altLang="zh-CN" dirty="0"/>
              <a:t>z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947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即存在一种调整，使得全局测地和子结构测地都得到满足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556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将整个数值求解过程变成了一个数值积分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902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大偏差理论</a:t>
            </a:r>
            <a:r>
              <a:rPr lang="en-US" altLang="zh-CN" dirty="0"/>
              <a:t>Sanov</a:t>
            </a:r>
            <a:r>
              <a:rPr lang="zh-CN" altLang="en-US" dirty="0"/>
              <a:t>定理：在参考过程</a:t>
            </a:r>
            <a:r>
              <a:rPr lang="en-US" altLang="zh-CN" dirty="0"/>
              <a:t>Q</a:t>
            </a:r>
            <a:r>
              <a:rPr lang="zh-CN" altLang="en-US" dirty="0"/>
              <a:t>下，</a:t>
            </a:r>
            <a:r>
              <a:rPr lang="en-US" altLang="zh-CN" dirty="0"/>
              <a:t>N</a:t>
            </a:r>
            <a:r>
              <a:rPr lang="zh-CN" altLang="en-US" dirty="0"/>
              <a:t>个粒子的经验分布</a:t>
            </a:r>
            <a:r>
              <a:rPr lang="en-US" altLang="zh-CN" dirty="0"/>
              <a:t>P</a:t>
            </a:r>
            <a:r>
              <a:rPr lang="zh-CN" altLang="en-US" dirty="0"/>
              <a:t>，服从一概率分布</a:t>
            </a:r>
            <a:r>
              <a:rPr lang="en-US" altLang="zh-CN" dirty="0"/>
              <a:t>Prob(P)</a:t>
            </a:r>
            <a:r>
              <a:rPr lang="zh-CN" altLang="en-US" dirty="0"/>
              <a:t>≈</a:t>
            </a:r>
            <a:r>
              <a:rPr lang="en-US" altLang="zh-CN" dirty="0"/>
              <a:t>exp(-N*KL(P||Q))</a:t>
            </a:r>
            <a:r>
              <a:rPr lang="zh-CN" altLang="en-US" dirty="0"/>
              <a:t>，因此所谓薛定谔桥，就是最可能的那个随机过程。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409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E3E33-C2B3-C116-9EA8-C70648E7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28CD05-AFB1-249C-F8C3-169A14886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F460EC-45AC-7B22-3EB6-1D703729F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大偏差理论</a:t>
            </a:r>
            <a:r>
              <a:rPr lang="en-US" altLang="zh-CN" dirty="0"/>
              <a:t>Sanov</a:t>
            </a:r>
            <a:r>
              <a:rPr lang="zh-CN" altLang="en-US" dirty="0"/>
              <a:t>定理：在参考过程</a:t>
            </a:r>
            <a:r>
              <a:rPr lang="en-US" altLang="zh-CN" dirty="0"/>
              <a:t>Q</a:t>
            </a:r>
            <a:r>
              <a:rPr lang="zh-CN" altLang="en-US" dirty="0"/>
              <a:t>下，</a:t>
            </a:r>
            <a:r>
              <a:rPr lang="en-US" altLang="zh-CN" dirty="0"/>
              <a:t>N</a:t>
            </a:r>
            <a:r>
              <a:rPr lang="zh-CN" altLang="en-US" dirty="0"/>
              <a:t>个粒子的经验分布</a:t>
            </a:r>
            <a:r>
              <a:rPr lang="en-US" altLang="zh-CN" dirty="0"/>
              <a:t>P</a:t>
            </a:r>
            <a:r>
              <a:rPr lang="zh-CN" altLang="en-US" dirty="0"/>
              <a:t>，服从一概率分布</a:t>
            </a:r>
            <a:r>
              <a:rPr lang="en-US" altLang="zh-CN" dirty="0"/>
              <a:t>Prob(P)</a:t>
            </a:r>
            <a:r>
              <a:rPr lang="zh-CN" altLang="en-US" dirty="0"/>
              <a:t>≈</a:t>
            </a:r>
            <a:r>
              <a:rPr lang="en-US" altLang="zh-CN" dirty="0"/>
              <a:t>exp(-N*KL(P||Q))</a:t>
            </a:r>
            <a:r>
              <a:rPr lang="zh-CN" altLang="en-US" dirty="0"/>
              <a:t>，因此所谓薛定谔桥，就是最可能的那个随机过程。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9F1DE-2557-881F-0E9E-D46D4297A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544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8590-CF16-B71A-36B9-A94E74DD6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187D3A-FE58-EA2E-31FD-8410B6DF2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AB773A-2AEC-3D85-7137-AF71B871F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大偏差理论</a:t>
            </a:r>
            <a:r>
              <a:rPr lang="en-US" altLang="zh-CN" dirty="0"/>
              <a:t>Sanov</a:t>
            </a:r>
            <a:r>
              <a:rPr lang="zh-CN" altLang="en-US" dirty="0"/>
              <a:t>定理：在参考过程</a:t>
            </a:r>
            <a:r>
              <a:rPr lang="en-US" altLang="zh-CN" dirty="0"/>
              <a:t>Q</a:t>
            </a:r>
            <a:r>
              <a:rPr lang="zh-CN" altLang="en-US" dirty="0"/>
              <a:t>下，</a:t>
            </a:r>
            <a:r>
              <a:rPr lang="en-US" altLang="zh-CN" dirty="0"/>
              <a:t>N</a:t>
            </a:r>
            <a:r>
              <a:rPr lang="zh-CN" altLang="en-US" dirty="0"/>
              <a:t>个粒子的经验分布</a:t>
            </a:r>
            <a:r>
              <a:rPr lang="en-US" altLang="zh-CN" dirty="0"/>
              <a:t>P</a:t>
            </a:r>
            <a:r>
              <a:rPr lang="zh-CN" altLang="en-US" dirty="0"/>
              <a:t>，服从一概率分布</a:t>
            </a:r>
            <a:r>
              <a:rPr lang="en-US" altLang="zh-CN" dirty="0"/>
              <a:t>Prob(P)</a:t>
            </a:r>
            <a:r>
              <a:rPr lang="zh-CN" altLang="en-US" dirty="0"/>
              <a:t>≈</a:t>
            </a:r>
            <a:r>
              <a:rPr lang="en-US" altLang="zh-CN" dirty="0"/>
              <a:t>exp(-N*KL(P||Q))</a:t>
            </a:r>
            <a:r>
              <a:rPr lang="zh-CN" altLang="en-US" dirty="0"/>
              <a:t>，因此所谓薛定谔桥，就是最可能的那个随机过程。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1B38CF-D2CA-D7DA-A805-4F81FCC17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35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WFR</a:t>
            </a:r>
            <a:r>
              <a:rPr lang="zh-CN" altLang="en-US" dirty="0"/>
              <a:t>在理论上被证明的确是个度量，并且有静态形式，能够转化为</a:t>
            </a:r>
            <a:r>
              <a:rPr lang="en-US" altLang="zh-CN" dirty="0"/>
              <a:t>OET</a:t>
            </a:r>
            <a:r>
              <a:rPr lang="zh-CN" altLang="en-US" dirty="0"/>
              <a:t>问题高效求解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45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C22DC-0609-9AE5-76A9-874A5CEC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F75AA4-2C2A-8F34-4FB2-949BA0081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C03627-3202-E2A5-0081-711C509DF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132FF0-AAA9-BE1D-0B9B-68911358C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499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FED91-E6FD-EE9B-AC4A-D10A3AE5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72FD2D-0A3B-B3EE-5AA5-0D5ADB465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00A20F-1AA1-A386-9040-C2D32D9D5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60464C-5D15-B211-7752-68EAE720B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761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D2EC-D5DD-40FF-836C-D2B3678831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19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BB967-30C8-ABC7-3F1E-D5E54A1E5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FCBE04-F646-6ACA-FA4B-5513C910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75C7A6-C7A2-749E-2BD1-B687599F8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09CBAA-BE7C-29C8-B790-C72B4391A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CA5F37-5779-B5FF-F534-52541C02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74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5FD5D-4E98-B458-85A9-E0DE5488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8FF65B-CAB8-FFF5-F342-A0D27BD1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70C7A-C11F-F1F7-D2BD-551C6E74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6D6D9F-16CE-F38A-F1DB-8DA0C62B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BEFC36-78E6-7AAE-DD0F-980618C3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24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829EC-34F8-1832-347D-086CC072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EB3B0D-4B5C-F748-D6E8-35DD226A8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700EF8-0904-C398-8B0D-5E033C0E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243C06-9028-7961-0427-F3E5C18B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DE64F9-9D71-4601-1E81-11194FF1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83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E56DD-CEE1-3EC7-0703-FC684632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451AE6-546D-F26B-AAA7-5442C4202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4B0FBF-8E89-DD69-6CFF-920F4E0A2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CA1917-1C58-694D-0378-0CE3C02A0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02F3B0-A8F8-6AD9-A8C6-D12E4BA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2C77A3-9309-22FC-9BD8-13F5FE0C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251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60E91-1584-B8E5-A166-A9E301D0D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8DFA99-3CE9-DB6A-4EC0-B43C4EC13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D386E1-2DFD-8848-EC43-F47092041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B6E0CE-03E8-2807-7291-A4128EBC0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3C1080-CDEC-6775-72E5-870F0FCFCE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9100DE-C47B-0FDA-248A-15841DAE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7727C6-1DE8-54AD-FBF6-357B89BD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155AD0-AD1A-E62D-2A39-FDC95C14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638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1A772-5B6F-AD95-AD28-250892E7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94EE49-7212-AA37-BB67-82383A2C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FC1E63-1EC1-ECAF-060A-4ABE4AC6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6144F9-4624-5292-FB03-4A741328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08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B3CF85-B501-0CAB-85C6-4345D4D8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98F822-1B97-F884-A686-6B621ED8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4ED56-FA61-8915-7D40-F9CABC06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71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40010-B1FA-4514-3031-603BA246D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C2C82-326C-2EA9-75B9-139B95024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547441-D816-3E8E-9B84-DA57652DB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FD52C9-CB53-9D95-20EB-BD70B73FB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285878-B2DA-F352-5944-C8EEEB2D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FE71E9-E073-90BE-8C35-CF6FCAB3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749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E370D-1A6E-C4E8-0F01-B97D3A528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E6833B-EBBE-8EB4-3767-ACB4A7A6D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5ACA69-D504-4994-F2D6-2AF2DB3E5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3ABBBC-80B8-CF90-9F41-460D79C4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E956F3-5B9F-8512-E3FC-361B948F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D72134-1F06-3D1F-3749-3396FC2A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52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89BA2-5CB4-1F16-DA75-3312456F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4C7F4C-650A-71DE-23E9-24C6957F6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656321-28B2-5E76-212E-AECFB7F08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E3D111-A5F0-D385-AF74-DCF48843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353571-94A4-C275-3A9F-77282CFE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54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EEA44E-2DC9-4F9C-AFD0-9A5BA25DE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D2D028-7165-276B-015F-377922399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2ADCFE-8028-5D48-19F5-E546A673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B427A-EEE0-4961-89DF-A280C83FF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2B9F44-B8E1-6065-7F45-68CF6E5C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83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27B01C-5035-E41B-5364-E6E366B20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B52B62-9C77-EFE7-AF43-3A91DEF99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6BD05F-5EFF-73DC-A5B1-C3FB69F526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290A3-3AE0-4650-A12F-872367CED8A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709EFC-7A41-EA71-6F93-C9ADF170C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D0D2D4-31A6-94A9-8D10-86E5B62CF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6E912-C673-42B2-992E-6F45CB2178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59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3EDD1-5F95-C9AA-9A06-9F7A9E97D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935" y="929534"/>
            <a:ext cx="11744130" cy="2387600"/>
          </a:xfrm>
        </p:spPr>
        <p:txBody>
          <a:bodyPr>
            <a:normAutofit/>
          </a:bodyPr>
          <a:lstStyle/>
          <a:p>
            <a:r>
              <a:rPr lang="en-US" altLang="zh-CN" sz="5000" dirty="0">
                <a:latin typeface="Adobe Caslon Pro"/>
              </a:rPr>
              <a:t>TP-DATE</a:t>
            </a:r>
            <a:endParaRPr lang="zh-CN" altLang="en-US" sz="5000" dirty="0">
              <a:latin typeface="Adobe Caslon Pro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DE8EBD-1E4C-5B5A-48AD-E9AE65C51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2988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b="1" dirty="0">
                <a:latin typeface="Adobe Caslon Pro"/>
              </a:rPr>
              <a:t>Travelling pair flow matching</a:t>
            </a:r>
          </a:p>
          <a:p>
            <a:r>
              <a:rPr lang="en-US" altLang="zh-CN" dirty="0">
                <a:latin typeface="Adobe Caslon Pro"/>
              </a:rPr>
              <a:t>2026.10.20</a:t>
            </a:r>
          </a:p>
          <a:p>
            <a:r>
              <a:rPr lang="en-US" altLang="zh-CN" dirty="0">
                <a:latin typeface="Adobe Caslon Pro"/>
              </a:rPr>
              <a:t>Junda Ying</a:t>
            </a:r>
            <a:r>
              <a:rPr lang="zh-CN" altLang="en-US" dirty="0">
                <a:latin typeface="Adobe Caslon Pro"/>
              </a:rPr>
              <a:t> </a:t>
            </a:r>
            <a:r>
              <a:rPr lang="en-US" altLang="zh-CN" dirty="0">
                <a:latin typeface="Adobe Caslon Pro"/>
              </a:rPr>
              <a:t>(</a:t>
            </a:r>
            <a:r>
              <a:rPr lang="zh-CN" altLang="en-US" dirty="0">
                <a:latin typeface="Adobe Caslon Pro"/>
              </a:rPr>
              <a:t>应骏达</a:t>
            </a:r>
            <a:r>
              <a:rPr lang="en-US" altLang="zh-CN" dirty="0">
                <a:latin typeface="Adobe Caslon Pro"/>
              </a:rPr>
              <a:t>)</a:t>
            </a:r>
          </a:p>
          <a:p>
            <a:r>
              <a:rPr lang="en-US" altLang="zh-CN" dirty="0">
                <a:latin typeface="Adobe Caslon Pro"/>
              </a:rPr>
              <a:t>Beijing International Center for Mathematical Research (BICMR) </a:t>
            </a:r>
          </a:p>
          <a:p>
            <a:r>
              <a:rPr lang="en-US" altLang="zh-CN" dirty="0">
                <a:latin typeface="Adobe Caslon Pro"/>
              </a:rPr>
              <a:t>Peking University</a:t>
            </a:r>
          </a:p>
          <a:p>
            <a:endParaRPr lang="en-US" altLang="zh-CN" dirty="0">
              <a:latin typeface="Adobe Caslon Pro"/>
            </a:endParaRPr>
          </a:p>
        </p:txBody>
      </p:sp>
    </p:spTree>
    <p:extLst>
      <p:ext uri="{BB962C8B-B14F-4D97-AF65-F5344CB8AC3E}">
        <p14:creationId xmlns:p14="http://schemas.microsoft.com/office/powerpoint/2010/main" val="173434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2"/>
    </mc:Choice>
    <mc:Fallback xmlns="">
      <p:transition spd="slow" advTm="854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15798-83B8-7F43-F53A-33D48F6F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Snapshots </a:t>
            </a:r>
            <a:r>
              <a:rPr lang="en-US" altLang="zh-CN" dirty="0">
                <a:latin typeface="Adobe Caslon Pro"/>
                <a:sym typeface="Wingdings" panose="05000000000000000000" pitchFamily="2" charset="2"/>
              </a:rPr>
              <a:t> Continuous interpolation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084EDA-228E-A5B7-F4E7-49E2E4F6E3F7}"/>
              </a:ext>
            </a:extLst>
          </p:cNvPr>
          <p:cNvSpPr/>
          <p:nvPr/>
        </p:nvSpPr>
        <p:spPr>
          <a:xfrm>
            <a:off x="990285" y="2134133"/>
            <a:ext cx="3632049" cy="4622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038D69A-D63E-0798-4C46-A7B392A7C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8" b="7120"/>
          <a:stretch>
            <a:fillRect/>
          </a:stretch>
        </p:blipFill>
        <p:spPr>
          <a:xfrm>
            <a:off x="3239" y="1555101"/>
            <a:ext cx="12185522" cy="506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06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7DCDF74-E820-97A1-3868-2D3A29E4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724" y="4703747"/>
            <a:ext cx="3071327" cy="9608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0F78A8D-6FFA-AEF0-5303-AE0889692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151" y="4840911"/>
            <a:ext cx="6289602" cy="588765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CEC7A814-E86A-4F30-BA22-F0120EA28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dobe Caslon Pro"/>
                <a:sym typeface="Wingdings" panose="05000000000000000000" pitchFamily="2" charset="2"/>
              </a:rPr>
              <a:t>Weighted Particles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182FBE1-A885-89DC-9413-481B158FA9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651" t="3380" r="19858" b="68325"/>
          <a:stretch>
            <a:fillRect/>
          </a:stretch>
        </p:blipFill>
        <p:spPr>
          <a:xfrm>
            <a:off x="1848539" y="3736538"/>
            <a:ext cx="2743200" cy="47153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5FDAFEF-93FA-36F1-A77D-CA33D6AB6D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221" t="7904" r="23101" b="66621"/>
          <a:stretch>
            <a:fillRect/>
          </a:stretch>
        </p:blipFill>
        <p:spPr>
          <a:xfrm>
            <a:off x="1809860" y="2718252"/>
            <a:ext cx="1906946" cy="35986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4E1FD49-52F1-4695-CFC1-2D9C0B212C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40" t="58568" r="-1"/>
          <a:stretch>
            <a:fillRect/>
          </a:stretch>
        </p:blipFill>
        <p:spPr>
          <a:xfrm>
            <a:off x="6335015" y="3627074"/>
            <a:ext cx="4786134" cy="69046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DC5E0E3-10BA-777C-06F0-BAF0CB3984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754" t="73979"/>
          <a:stretch>
            <a:fillRect/>
          </a:stretch>
        </p:blipFill>
        <p:spPr>
          <a:xfrm>
            <a:off x="6701122" y="2733389"/>
            <a:ext cx="3647274" cy="367589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90586E9-0C5D-D463-AC91-2A927315ED91}"/>
              </a:ext>
            </a:extLst>
          </p:cNvPr>
          <p:cNvSpPr txBox="1"/>
          <p:nvPr/>
        </p:nvSpPr>
        <p:spPr>
          <a:xfrm>
            <a:off x="7396560" y="3078118"/>
            <a:ext cx="2256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dobe Caslon Pro"/>
              </a:rPr>
              <a:t>Continuity equation</a:t>
            </a:r>
            <a:endParaRPr lang="zh-CN" altLang="en-US" dirty="0">
              <a:latin typeface="Adobe Caslon Pr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51EA35-4E64-CEC0-F110-C081422AC07B}"/>
              </a:ext>
            </a:extLst>
          </p:cNvPr>
          <p:cNvSpPr txBox="1"/>
          <p:nvPr/>
        </p:nvSpPr>
        <p:spPr>
          <a:xfrm>
            <a:off x="7333457" y="4209893"/>
            <a:ext cx="278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dobe Caslon Pro"/>
              </a:rPr>
              <a:t>Fokker-Planck equation</a:t>
            </a:r>
            <a:endParaRPr lang="zh-CN" altLang="en-US" dirty="0">
              <a:latin typeface="Adobe Caslon Pro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93EE98F-633C-E9F0-5062-3ACE4106C085}"/>
              </a:ext>
            </a:extLst>
          </p:cNvPr>
          <p:cNvSpPr txBox="1"/>
          <p:nvPr/>
        </p:nvSpPr>
        <p:spPr>
          <a:xfrm>
            <a:off x="6841556" y="5479912"/>
            <a:ext cx="4104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dobe Caslon Pro"/>
              </a:rPr>
              <a:t>Fokker-Planck equation with source</a:t>
            </a:r>
            <a:endParaRPr lang="zh-CN" altLang="en-US" dirty="0">
              <a:latin typeface="Adobe Caslon Pro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E5610E6-701E-EC1A-5829-3D1274D22104}"/>
              </a:ext>
            </a:extLst>
          </p:cNvPr>
          <p:cNvSpPr txBox="1"/>
          <p:nvPr/>
        </p:nvSpPr>
        <p:spPr>
          <a:xfrm>
            <a:off x="2197988" y="3078118"/>
            <a:ext cx="69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dobe Caslon Pro"/>
              </a:rPr>
              <a:t>ODE</a:t>
            </a:r>
            <a:endParaRPr lang="zh-CN" altLang="en-US" dirty="0">
              <a:latin typeface="Adobe Caslon Pro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67C1932-65C0-86EA-1EDD-1E6D2D5464CB}"/>
              </a:ext>
            </a:extLst>
          </p:cNvPr>
          <p:cNvSpPr txBox="1"/>
          <p:nvPr/>
        </p:nvSpPr>
        <p:spPr>
          <a:xfrm>
            <a:off x="2197988" y="4132874"/>
            <a:ext cx="69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dobe Caslon Pro"/>
              </a:rPr>
              <a:t>SDE</a:t>
            </a:r>
            <a:endParaRPr lang="zh-CN" altLang="en-US" dirty="0">
              <a:latin typeface="Adobe Caslon Pro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CFB8481-160A-43B6-43A0-F01A688F45D2}"/>
              </a:ext>
            </a:extLst>
          </p:cNvPr>
          <p:cNvSpPr txBox="1"/>
          <p:nvPr/>
        </p:nvSpPr>
        <p:spPr>
          <a:xfrm>
            <a:off x="2197988" y="5681453"/>
            <a:ext cx="1860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dobe Caslon Pro"/>
              </a:rPr>
              <a:t>Weighted SDE</a:t>
            </a:r>
            <a:endParaRPr lang="zh-CN" altLang="en-US" dirty="0">
              <a:latin typeface="Adobe Caslon Pro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240F3C1-027D-3482-D353-60BEC0F95697}"/>
              </a:ext>
            </a:extLst>
          </p:cNvPr>
          <p:cNvSpPr txBox="1"/>
          <p:nvPr/>
        </p:nvSpPr>
        <p:spPr>
          <a:xfrm>
            <a:off x="2118251" y="1810868"/>
            <a:ext cx="2605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dobe Caslon Pro"/>
              </a:rPr>
              <a:t>Particle dynamics</a:t>
            </a:r>
            <a:endParaRPr lang="zh-CN" altLang="en-US" b="1" dirty="0">
              <a:latin typeface="Adobe Caslon Pro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F3CF04-4FE0-7C78-50CB-C1F766C3B436}"/>
              </a:ext>
            </a:extLst>
          </p:cNvPr>
          <p:cNvSpPr txBox="1"/>
          <p:nvPr/>
        </p:nvSpPr>
        <p:spPr>
          <a:xfrm>
            <a:off x="7591495" y="1810868"/>
            <a:ext cx="2605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dobe Caslon Pro"/>
              </a:rPr>
              <a:t> </a:t>
            </a:r>
            <a:r>
              <a:rPr lang="en-US" altLang="zh-CN" b="1" dirty="0">
                <a:latin typeface="Adobe Caslon Pro"/>
              </a:rPr>
              <a:t>Measure dynamics</a:t>
            </a:r>
            <a:endParaRPr lang="zh-CN" altLang="en-US" b="1" dirty="0">
              <a:latin typeface="Adobe Caslon Pro"/>
            </a:endParaRPr>
          </a:p>
        </p:txBody>
      </p:sp>
      <p:sp>
        <p:nvSpPr>
          <p:cNvPr id="31" name="箭头: 左右 30">
            <a:extLst>
              <a:ext uri="{FF2B5EF4-FFF2-40B4-BE49-F238E27FC236}">
                <a16:creationId xmlns:a16="http://schemas.microsoft.com/office/drawing/2014/main" id="{BDEA4A5C-BC72-AE99-2120-591BEB164560}"/>
              </a:ext>
            </a:extLst>
          </p:cNvPr>
          <p:cNvSpPr/>
          <p:nvPr/>
        </p:nvSpPr>
        <p:spPr>
          <a:xfrm>
            <a:off x="5025911" y="3736538"/>
            <a:ext cx="1164380" cy="471538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78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346C3-748E-D8DA-4635-1B4AD0B6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Flow Matching (FM)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EC4708-D89C-E336-4EE3-FEF4FD9D3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008" y="2024396"/>
            <a:ext cx="9294381" cy="210976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F496015-7756-9FC6-766C-5C8A7E1E7F06}"/>
              </a:ext>
            </a:extLst>
          </p:cNvPr>
          <p:cNvSpPr txBox="1"/>
          <p:nvPr/>
        </p:nvSpPr>
        <p:spPr>
          <a:xfrm>
            <a:off x="1071847" y="5589861"/>
            <a:ext cx="9894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Adobe Caslon Pro"/>
              </a:rPr>
              <a:t>Difficulty: the true velocity field </a:t>
            </a:r>
            <a:r>
              <a:rPr lang="en-US" altLang="zh-CN" sz="2800" b="1" i="1" dirty="0">
                <a:solidFill>
                  <a:srgbClr val="FF0000"/>
                </a:solidFill>
                <a:latin typeface="Adobe Caslon Pro"/>
              </a:rPr>
              <a:t>u</a:t>
            </a:r>
            <a:r>
              <a:rPr lang="en-US" altLang="zh-CN" sz="2800" b="1" dirty="0">
                <a:solidFill>
                  <a:srgbClr val="FF0000"/>
                </a:solidFill>
                <a:latin typeface="Adobe Caslon Pro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Adobe Caslon Pro"/>
              </a:rPr>
              <a:t>is intractable </a:t>
            </a:r>
            <a:endParaRPr lang="zh-CN" altLang="en-US" sz="2800" dirty="0">
              <a:solidFill>
                <a:srgbClr val="FF0000"/>
              </a:solidFill>
              <a:latin typeface="Adobe Caslon Pro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41B3A3-F190-29A3-8BA2-9A0289DB1CC1}"/>
              </a:ext>
            </a:extLst>
          </p:cNvPr>
          <p:cNvSpPr txBox="1"/>
          <p:nvPr/>
        </p:nvSpPr>
        <p:spPr>
          <a:xfrm>
            <a:off x="4163951" y="4278170"/>
            <a:ext cx="348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Y. Lipman et. al, Flow Matching Guide and Code</a:t>
            </a:r>
            <a:endParaRPr lang="zh-CN" altLang="en-US" sz="1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A1049C6-64C7-4DDD-73AE-03430551F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415" y="4629403"/>
            <a:ext cx="8383170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9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CDD36-45DA-4EA8-A8FC-04685FEB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  <a:cs typeface="Arial" panose="020B0604020202020204" pitchFamily="34" charset="0"/>
              </a:rPr>
              <a:t>Conditional Flow Matching (CFM) </a:t>
            </a:r>
            <a:endParaRPr lang="zh-CN" altLang="en-US" dirty="0">
              <a:latin typeface="Adobe Caslon Pr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9DA650-8491-49E2-BD5B-27450C512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697" y="2998997"/>
            <a:ext cx="9975640" cy="24325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26FA22C-1D9B-8760-9A15-BCD965EC8458}"/>
              </a:ext>
            </a:extLst>
          </p:cNvPr>
          <p:cNvSpPr txBox="1"/>
          <p:nvPr/>
        </p:nvSpPr>
        <p:spPr>
          <a:xfrm>
            <a:off x="4408713" y="5435954"/>
            <a:ext cx="348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Figure from Flow Matching Guide and Code </a:t>
            </a:r>
            <a:endParaRPr lang="zh-CN" altLang="en-US" sz="1200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D6E6D06-5FEF-9451-CCE3-C1D92D7F8E9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Adobe Caslon Pro"/>
              </a:rPr>
              <a:t>As a tractable alternative, one can also regress the conditional velocity</a:t>
            </a:r>
          </a:p>
        </p:txBody>
      </p:sp>
    </p:spTree>
    <p:extLst>
      <p:ext uri="{BB962C8B-B14F-4D97-AF65-F5344CB8AC3E}">
        <p14:creationId xmlns:p14="http://schemas.microsoft.com/office/powerpoint/2010/main" val="402089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279E8-5743-FF02-60CF-0DD2645DA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Learning marginal by conditions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800B42-DDED-6A9D-127C-BDB8A17C0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Marginalization</a:t>
            </a:r>
            <a:r>
              <a:rPr lang="en-US" altLang="zh-CN" dirty="0">
                <a:latin typeface="Adobe Caslon Pro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trick</a:t>
            </a: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Equivalence between FM loss and CFM loss</a:t>
            </a:r>
            <a:endParaRPr lang="zh-CN" altLang="en-US" b="1" dirty="0">
              <a:solidFill>
                <a:srgbClr val="FF0000"/>
              </a:solidFill>
              <a:latin typeface="Adobe Caslon Pro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835C5D-CCD8-1B13-DB58-4FD2C175F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96605"/>
            <a:ext cx="3491186" cy="6709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C147FFD-56AB-BF09-C6A0-D6AD51413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041" y="2200111"/>
            <a:ext cx="3935551" cy="7673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45A583D-E0EF-EF11-AD70-F130ED1AB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003" y="2424436"/>
            <a:ext cx="4048106" cy="318748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05DB3A33-54C3-7F41-91C2-FC11249D4421}"/>
              </a:ext>
            </a:extLst>
          </p:cNvPr>
          <p:cNvSpPr/>
          <p:nvPr/>
        </p:nvSpPr>
        <p:spPr>
          <a:xfrm>
            <a:off x="1301960" y="3195497"/>
            <a:ext cx="902289" cy="19983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0CDB71D-F3A7-4119-E9E0-F0F4124C5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102" y="3152736"/>
            <a:ext cx="4267796" cy="55252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A7F8A6C-89A4-B653-3544-663968AD11F0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EF1558C-5870-7E52-44B2-F06F2DE3C7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0245" y="4377976"/>
            <a:ext cx="6462702" cy="5051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0BB7463-BA32-146B-7231-71B6FF2786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4375" y="4972933"/>
            <a:ext cx="8875463" cy="55710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CA92DC9-669E-7579-6002-8BBCE25B41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2102" y="5680172"/>
            <a:ext cx="3759928" cy="63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4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7F16E-CB37-A1A5-2766-2616E8425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Optimal Transport (OT)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943812-220E-9B5D-E812-F5A89991C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latin typeface="Adobe Caslon Pro"/>
              </a:rPr>
              <a:t>Static form (Kantorovich)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latin typeface="Adobe Caslon Pro"/>
            </a:endParaRPr>
          </a:p>
          <a:p>
            <a:r>
              <a:rPr lang="en-US" altLang="zh-CN" dirty="0">
                <a:latin typeface="Adobe Caslon Pro"/>
              </a:rPr>
              <a:t>Dynamic form (</a:t>
            </a:r>
            <a:r>
              <a:rPr lang="en-US" altLang="zh-CN" dirty="0" err="1">
                <a:latin typeface="Adobe Caslon Pro"/>
              </a:rPr>
              <a:t>Benamou</a:t>
            </a:r>
            <a:r>
              <a:rPr lang="en-US" altLang="zh-CN" dirty="0">
                <a:latin typeface="Adobe Caslon Pro"/>
              </a:rPr>
              <a:t>, Brenier)</a:t>
            </a: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r>
              <a:rPr lang="en-US" altLang="zh-CN" dirty="0">
                <a:latin typeface="Adobe Caslon Pro"/>
              </a:rPr>
              <a:t>Observation: dynamics = static coupling + conditional path </a:t>
            </a: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F7822E-795A-5235-B6AD-23DB14287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501" y="2289248"/>
            <a:ext cx="5474457" cy="140356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F547AB6-832A-4B40-C1EE-4E73BC3F1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501" y="4156439"/>
            <a:ext cx="5410998" cy="121281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042B086-C4BF-777D-F47E-D3A10DF16679}"/>
              </a:ext>
            </a:extLst>
          </p:cNvPr>
          <p:cNvSpPr txBox="1"/>
          <p:nvPr/>
        </p:nvSpPr>
        <p:spPr>
          <a:xfrm>
            <a:off x="5452110" y="6039442"/>
            <a:ext cx="248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transport plan</a:t>
            </a:r>
            <a:endParaRPr lang="zh-CN" altLang="en-US" b="1" dirty="0">
              <a:solidFill>
                <a:srgbClr val="FF0000"/>
              </a:solidFill>
              <a:latin typeface="Adobe Caslon Pro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D5D621-FA7F-FF15-CD69-4F7573B39C90}"/>
              </a:ext>
            </a:extLst>
          </p:cNvPr>
          <p:cNvSpPr txBox="1"/>
          <p:nvPr/>
        </p:nvSpPr>
        <p:spPr>
          <a:xfrm>
            <a:off x="8153400" y="6039442"/>
            <a:ext cx="248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how to transport</a:t>
            </a:r>
            <a:endParaRPr lang="zh-CN" altLang="en-US" b="1" dirty="0">
              <a:solidFill>
                <a:srgbClr val="FF0000"/>
              </a:solidFill>
              <a:latin typeface="Adobe Caslon Pro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0F9EDD1-5264-6B4D-1CA1-D0D44BB44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336" y="6374758"/>
            <a:ext cx="4391554" cy="47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27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CAEAF-6CFE-E63A-303C-E80A87AB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OT-CFM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25E384-75A0-B577-28DB-3BF2FACB9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Solve dynamic OT by flow matching.</a:t>
            </a:r>
          </a:p>
          <a:p>
            <a:endParaRPr lang="zh-CN" altLang="en-US" dirty="0">
              <a:latin typeface="Adobe Caslon Pr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705BFE-9649-42EB-CC1D-5EC7BDD11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41" y="2819670"/>
            <a:ext cx="5172098" cy="359031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A474F3C-9330-9D81-0C6D-61179753CCE5}"/>
              </a:ext>
            </a:extLst>
          </p:cNvPr>
          <p:cNvSpPr txBox="1"/>
          <p:nvPr/>
        </p:nvSpPr>
        <p:spPr>
          <a:xfrm>
            <a:off x="1813617" y="6396335"/>
            <a:ext cx="4619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/>
              <a:t>A.Tong</a:t>
            </a:r>
            <a:r>
              <a:rPr lang="en-US" altLang="zh-CN" sz="1200" dirty="0"/>
              <a:t> et. al, Improving and generalizing flow-based generative models with minibatch optimal transport. </a:t>
            </a:r>
            <a:endParaRPr lang="zh-CN" altLang="en-US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D966E3-8FFA-0EAE-B28D-CA3B836846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54" t="73979"/>
          <a:stretch>
            <a:fillRect/>
          </a:stretch>
        </p:blipFill>
        <p:spPr>
          <a:xfrm>
            <a:off x="7341202" y="3154559"/>
            <a:ext cx="3647274" cy="36758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955E46D-4288-B30B-6373-A0BEEA92316F}"/>
              </a:ext>
            </a:extLst>
          </p:cNvPr>
          <p:cNvSpPr txBox="1"/>
          <p:nvPr/>
        </p:nvSpPr>
        <p:spPr>
          <a:xfrm>
            <a:off x="7341870" y="3590213"/>
            <a:ext cx="3989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trike="sngStrike" dirty="0">
                <a:solidFill>
                  <a:srgbClr val="FF0000"/>
                </a:solidFill>
                <a:latin typeface="Adobe Caslon Pro"/>
              </a:rPr>
              <a:t>PINN loss</a:t>
            </a:r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   automatically satisfied</a:t>
            </a:r>
            <a:endParaRPr lang="zh-CN" altLang="en-US" b="1" dirty="0">
              <a:solidFill>
                <a:srgbClr val="FF0000"/>
              </a:solidFill>
              <a:latin typeface="Adobe Caslon Pro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20DD8D9-3306-96ED-C0CD-75CD8C61EF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0090"/>
          <a:stretch>
            <a:fillRect/>
          </a:stretch>
        </p:blipFill>
        <p:spPr>
          <a:xfrm>
            <a:off x="6544639" y="4028281"/>
            <a:ext cx="5410998" cy="72659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E04D08E-F610-73EF-62D8-A7A726D1C406}"/>
              </a:ext>
            </a:extLst>
          </p:cNvPr>
          <p:cNvSpPr txBox="1"/>
          <p:nvPr/>
        </p:nvSpPr>
        <p:spPr>
          <a:xfrm>
            <a:off x="7364730" y="4823616"/>
            <a:ext cx="3989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trike="sngStrike" dirty="0">
                <a:solidFill>
                  <a:srgbClr val="FF0000"/>
                </a:solidFill>
                <a:latin typeface="Adobe Caslon Pro"/>
              </a:rPr>
              <a:t>OT loss</a:t>
            </a:r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   automatically minimized</a:t>
            </a:r>
            <a:endParaRPr lang="zh-CN" altLang="en-US" b="1" dirty="0">
              <a:solidFill>
                <a:srgbClr val="FF0000"/>
              </a:solidFill>
              <a:latin typeface="Adobe Caslon Pro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5B58678-C890-F526-2961-1F048D4438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270" t="54165" r="2842" b="2185"/>
          <a:stretch>
            <a:fillRect/>
          </a:stretch>
        </p:blipFill>
        <p:spPr>
          <a:xfrm>
            <a:off x="8361266" y="5155571"/>
            <a:ext cx="1995997" cy="52938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157A0AB-2321-06A6-13D8-8A1B90EC2E88}"/>
              </a:ext>
            </a:extLst>
          </p:cNvPr>
          <p:cNvSpPr txBox="1"/>
          <p:nvPr/>
        </p:nvSpPr>
        <p:spPr>
          <a:xfrm>
            <a:off x="6956668" y="5684955"/>
            <a:ext cx="4998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trike="sngStrike" dirty="0">
                <a:solidFill>
                  <a:srgbClr val="FF0000"/>
                </a:solidFill>
                <a:latin typeface="Adobe Caslon Pro"/>
              </a:rPr>
              <a:t>Reconstruction loss</a:t>
            </a:r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   automatically matched</a:t>
            </a:r>
            <a:endParaRPr lang="zh-CN" altLang="en-US" b="1" dirty="0">
              <a:solidFill>
                <a:srgbClr val="FF0000"/>
              </a:solidFill>
              <a:latin typeface="Adobe Caslon Pro"/>
            </a:endParaRPr>
          </a:p>
        </p:txBody>
      </p:sp>
    </p:spTree>
    <p:extLst>
      <p:ext uri="{BB962C8B-B14F-4D97-AF65-F5344CB8AC3E}">
        <p14:creationId xmlns:p14="http://schemas.microsoft.com/office/powerpoint/2010/main" val="96410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3B510-80D5-5DDA-C465-2A2DEE8F9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8D586-62C0-3B9F-E275-7C4A70D1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Schrödinger bridge 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AC95D2-16E2-9234-84CF-C0C0839F0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Deterministic version: What is </a:t>
            </a:r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the optimal transport </a:t>
            </a:r>
            <a:r>
              <a:rPr lang="en-US" altLang="zh-CN" dirty="0">
                <a:latin typeface="Adobe Caslon Pro"/>
              </a:rPr>
              <a:t>between two distributions?</a:t>
            </a:r>
          </a:p>
          <a:p>
            <a:r>
              <a:rPr lang="en-US" altLang="zh-CN" dirty="0">
                <a:latin typeface="Adobe Caslon Pro"/>
              </a:rPr>
              <a:t>Stochastic version: What is </a:t>
            </a:r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the most likely stochastic process </a:t>
            </a:r>
            <a:r>
              <a:rPr lang="en-US" altLang="zh-CN" dirty="0">
                <a:latin typeface="Adobe Caslon Pro"/>
              </a:rPr>
              <a:t>bridging two distributions?</a:t>
            </a:r>
          </a:p>
          <a:p>
            <a:endParaRPr lang="zh-CN" altLang="en-US" dirty="0">
              <a:latin typeface="Adobe Caslon Pro"/>
            </a:endParaRPr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291E7421-3547-8D71-A7F1-0BE7C0A18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663" y="4001294"/>
            <a:ext cx="5464673" cy="103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0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9F44-94F2-5E58-6B28-58BE9FE6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B1184-6B87-A0BE-98A8-1AF5B9D3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KL disintegration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86FF6A-0116-CCCA-4867-B41FC271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Disintegration</a:t>
            </a: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r>
              <a:rPr lang="en-US" altLang="zh-CN" dirty="0">
                <a:latin typeface="Adobe Caslon Pro"/>
              </a:rPr>
              <a:t>Static Schrödinger bridge</a:t>
            </a:r>
          </a:p>
          <a:p>
            <a:endParaRPr lang="en-US" altLang="zh-CN" b="1" dirty="0">
              <a:solidFill>
                <a:srgbClr val="FF0000"/>
              </a:solidFill>
              <a:latin typeface="Adobe Caslon Pro"/>
            </a:endParaRPr>
          </a:p>
          <a:p>
            <a:endParaRPr lang="en-US" altLang="zh-CN" b="1" dirty="0">
              <a:solidFill>
                <a:srgbClr val="FF0000"/>
              </a:solidFill>
              <a:latin typeface="Adobe Caslon Pro"/>
            </a:endParaRPr>
          </a:p>
          <a:p>
            <a:endParaRPr lang="zh-CN" altLang="en-US" dirty="0">
              <a:latin typeface="Adobe Caslon Pr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5AF200-1B78-8EB4-036B-93F73384B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110" y="2318711"/>
            <a:ext cx="7737780" cy="8376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D884221-79C2-D1E7-4D9F-6E7304683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214" y="4001294"/>
            <a:ext cx="4501572" cy="89744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106E471-F3F8-F8B3-2B06-84E17D07A672}"/>
              </a:ext>
            </a:extLst>
          </p:cNvPr>
          <p:cNvSpPr txBox="1"/>
          <p:nvPr/>
        </p:nvSpPr>
        <p:spPr>
          <a:xfrm>
            <a:off x="6509982" y="3091218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can be minimized to 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图片 7" descr="徽标, 公司名称&#10;&#10;AI 生成的内容可能不正确。">
            <a:extLst>
              <a:ext uri="{FF2B5EF4-FFF2-40B4-BE49-F238E27FC236}">
                <a16:creationId xmlns:a16="http://schemas.microsoft.com/office/drawing/2014/main" id="{143BB712-BC89-0C70-1076-B9FD8B90F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995" y="5360581"/>
            <a:ext cx="5498010" cy="766226"/>
          </a:xfrm>
          <a:prstGeom prst="rect">
            <a:avLst/>
          </a:prstGeom>
        </p:spPr>
      </p:pic>
      <p:sp>
        <p:nvSpPr>
          <p:cNvPr id="9" name="箭头: 下 8">
            <a:extLst>
              <a:ext uri="{FF2B5EF4-FFF2-40B4-BE49-F238E27FC236}">
                <a16:creationId xmlns:a16="http://schemas.microsoft.com/office/drawing/2014/main" id="{214D871A-58B9-719D-38CB-CE4367A07E19}"/>
              </a:ext>
            </a:extLst>
          </p:cNvPr>
          <p:cNvSpPr/>
          <p:nvPr/>
        </p:nvSpPr>
        <p:spPr>
          <a:xfrm>
            <a:off x="5991367" y="4898736"/>
            <a:ext cx="225188" cy="54074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F0396C-5208-1DF1-46D5-2E108061763E}"/>
              </a:ext>
            </a:extLst>
          </p:cNvPr>
          <p:cNvSpPr/>
          <p:nvPr/>
        </p:nvSpPr>
        <p:spPr>
          <a:xfrm>
            <a:off x="6393976" y="4599296"/>
            <a:ext cx="116006" cy="143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60345B-F231-A2B0-1B2F-22FDF20E1B3E}"/>
              </a:ext>
            </a:extLst>
          </p:cNvPr>
          <p:cNvSpPr txBox="1"/>
          <p:nvPr/>
        </p:nvSpPr>
        <p:spPr>
          <a:xfrm>
            <a:off x="6451979" y="6035938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Regularized OT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151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A7CBE-2D60-77A3-A98C-351F8123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98AF34-151D-290A-4290-51C6A0F7B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KL disintegration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06A3CF-E2E3-66A4-5BA6-E3728B04E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Regularized OT </a:t>
            </a:r>
            <a:r>
              <a:rPr lang="en-US" altLang="zh-CN" dirty="0">
                <a:latin typeface="Adobe Caslon Pro"/>
              </a:rPr>
              <a:t>+ </a:t>
            </a:r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Brownian bridge</a:t>
            </a:r>
          </a:p>
          <a:p>
            <a:endParaRPr lang="en-US" altLang="zh-CN" b="1" dirty="0">
              <a:solidFill>
                <a:srgbClr val="FF0000"/>
              </a:solidFill>
              <a:latin typeface="Adobe Caslon Pro"/>
            </a:endParaRPr>
          </a:p>
          <a:p>
            <a:endParaRPr lang="en-US" altLang="zh-CN" b="1" dirty="0">
              <a:solidFill>
                <a:srgbClr val="FF0000"/>
              </a:solidFill>
              <a:latin typeface="Adobe Caslon Pro"/>
            </a:endParaRPr>
          </a:p>
          <a:p>
            <a:endParaRPr lang="en-US" altLang="zh-CN" b="1" dirty="0">
              <a:solidFill>
                <a:srgbClr val="FF0000"/>
              </a:solidFill>
              <a:latin typeface="Adobe Caslon Pro"/>
            </a:endParaRPr>
          </a:p>
          <a:p>
            <a:endParaRPr lang="en-US" altLang="zh-CN" b="1" dirty="0">
              <a:solidFill>
                <a:srgbClr val="FF0000"/>
              </a:solidFill>
              <a:latin typeface="Adobe Caslon Pro"/>
            </a:endParaRPr>
          </a:p>
          <a:p>
            <a:endParaRPr lang="en-US" altLang="zh-CN" b="1" dirty="0">
              <a:solidFill>
                <a:srgbClr val="FF0000"/>
              </a:solidFill>
              <a:latin typeface="Adobe Caslon Pro"/>
            </a:endParaRPr>
          </a:p>
          <a:p>
            <a:r>
              <a:rPr lang="en-US" altLang="zh-CN" dirty="0">
                <a:latin typeface="Adobe Caslon Pro"/>
              </a:rPr>
              <a:t>Observation: dynamics = static coupling + conditional path</a:t>
            </a:r>
          </a:p>
          <a:p>
            <a:endParaRPr lang="en-US" altLang="zh-CN" dirty="0">
              <a:latin typeface="Adobe Caslon Pro"/>
            </a:endParaRPr>
          </a:p>
          <a:p>
            <a:endParaRPr lang="en-US" altLang="zh-CN" b="1" dirty="0">
              <a:solidFill>
                <a:srgbClr val="FF0000"/>
              </a:solidFill>
              <a:latin typeface="Adobe Caslon Pro"/>
            </a:endParaRPr>
          </a:p>
          <a:p>
            <a:endParaRPr lang="zh-CN" altLang="en-US" dirty="0">
              <a:latin typeface="Adobe Caslon Pro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B13D43-696D-DB95-127B-88DB68CF2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264" y="2548286"/>
            <a:ext cx="3927472" cy="9422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0AB93DC-D91F-82C6-A69B-79E3782EE886}"/>
              </a:ext>
            </a:extLst>
          </p:cNvPr>
          <p:cNvSpPr txBox="1"/>
          <p:nvPr/>
        </p:nvSpPr>
        <p:spPr>
          <a:xfrm>
            <a:off x="7223078" y="3843891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Coupling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DED5FF-9333-08EC-572A-64E973CAAFF3}"/>
              </a:ext>
            </a:extLst>
          </p:cNvPr>
          <p:cNvSpPr txBox="1"/>
          <p:nvPr/>
        </p:nvSpPr>
        <p:spPr>
          <a:xfrm>
            <a:off x="4188726" y="3816628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Conditional path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5775E640-52E7-93CD-9BBC-D2F675467FEF}"/>
              </a:ext>
            </a:extLst>
          </p:cNvPr>
          <p:cNvSpPr/>
          <p:nvPr/>
        </p:nvSpPr>
        <p:spPr>
          <a:xfrm rot="1552970">
            <a:off x="5513696" y="3295934"/>
            <a:ext cx="156949" cy="42990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DB14A203-A41B-60E1-CB4A-74C0E9534105}"/>
              </a:ext>
            </a:extLst>
          </p:cNvPr>
          <p:cNvSpPr/>
          <p:nvPr/>
        </p:nvSpPr>
        <p:spPr>
          <a:xfrm rot="20367844">
            <a:off x="7269251" y="3295935"/>
            <a:ext cx="156949" cy="42990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521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929B3-D133-F7E1-FA00-3E69620C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Unbalanced OT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BC2EFA-B754-5CFC-C4DB-ECB3C42F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107" y="1813351"/>
            <a:ext cx="7885785" cy="128108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738B2BE-3C51-E64D-4CDA-2379AB4E04A3}"/>
              </a:ext>
            </a:extLst>
          </p:cNvPr>
          <p:cNvSpPr txBox="1"/>
          <p:nvPr/>
        </p:nvSpPr>
        <p:spPr>
          <a:xfrm>
            <a:off x="8898340" y="2729552"/>
            <a:ext cx="1630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 descr="图表, 图示, 气泡图&#10;&#10;AI 生成的内容可能不正确。">
            <a:extLst>
              <a:ext uri="{FF2B5EF4-FFF2-40B4-BE49-F238E27FC236}">
                <a16:creationId xmlns:a16="http://schemas.microsoft.com/office/drawing/2014/main" id="{6D69A789-846B-19AC-B6F4-9D0C72EF3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754" y="3337624"/>
            <a:ext cx="6334492" cy="30292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02462C1-7E4E-B027-2921-AF1546237BC2}"/>
              </a:ext>
            </a:extLst>
          </p:cNvPr>
          <p:cNvSpPr txBox="1"/>
          <p:nvPr/>
        </p:nvSpPr>
        <p:spPr>
          <a:xfrm>
            <a:off x="4353197" y="6374856"/>
            <a:ext cx="348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Joint work with Peng et. al, WFR-FM: Simulation-free dynamic unbalanced optimal transport</a:t>
            </a:r>
            <a:endParaRPr lang="zh-CN" altLang="en-US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E83BF1-74B4-6F73-74EC-2692068E9776}"/>
              </a:ext>
            </a:extLst>
          </p:cNvPr>
          <p:cNvSpPr txBox="1"/>
          <p:nvPr/>
        </p:nvSpPr>
        <p:spPr>
          <a:xfrm>
            <a:off x="9413601" y="3331404"/>
            <a:ext cx="2486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dobe Caslon Pro"/>
              </a:rPr>
              <a:t>static coupling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B484D02-4203-00E8-1640-9BF96EA24111}"/>
              </a:ext>
            </a:extLst>
          </p:cNvPr>
          <p:cNvSpPr txBox="1"/>
          <p:nvPr/>
        </p:nvSpPr>
        <p:spPr>
          <a:xfrm>
            <a:off x="291416" y="5750286"/>
            <a:ext cx="2924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dobe Caslon Pro"/>
              </a:rPr>
              <a:t>conditional path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11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9CC9B-A9F2-A67F-5724-116F5FA7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Key observation</a:t>
            </a:r>
            <a:endParaRPr lang="zh-CN" altLang="en-US" dirty="0">
              <a:latin typeface="Adobe Caslon Pro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E3D6D0-CAF3-B205-DCC3-32B0A7FDA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659" y="4361296"/>
            <a:ext cx="7012641" cy="141689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E8FAE10-77CC-40B4-60A8-EC457F65496E}"/>
              </a:ext>
            </a:extLst>
          </p:cNvPr>
          <p:cNvSpPr txBox="1"/>
          <p:nvPr/>
        </p:nvSpPr>
        <p:spPr>
          <a:xfrm>
            <a:off x="2995126" y="6344151"/>
            <a:ext cx="6201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Ying et. al, Beyond Continuity: Simulation-free Reconstruction of Discrete Branching Dynamics from Single-cell Snapshots</a:t>
            </a:r>
            <a:endParaRPr lang="zh-CN" alt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D8BCE2-FFA8-A1AC-340E-34B403E0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91" t="53619" r="36638" b="5782"/>
          <a:stretch>
            <a:fillRect/>
          </a:stretch>
        </p:blipFill>
        <p:spPr>
          <a:xfrm>
            <a:off x="3854801" y="3011636"/>
            <a:ext cx="3927315" cy="6183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E61697-61D8-18EB-6614-5E90C0DF1E54}"/>
              </a:ext>
            </a:extLst>
          </p:cNvPr>
          <p:cNvSpPr/>
          <p:nvPr/>
        </p:nvSpPr>
        <p:spPr>
          <a:xfrm>
            <a:off x="6855106" y="2934996"/>
            <a:ext cx="927009" cy="8198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01E245-6A08-1A3B-03DB-C1140043CC45}"/>
              </a:ext>
            </a:extLst>
          </p:cNvPr>
          <p:cNvSpPr/>
          <p:nvPr/>
        </p:nvSpPr>
        <p:spPr>
          <a:xfrm>
            <a:off x="6210422" y="3136465"/>
            <a:ext cx="355235" cy="6183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D33B15-6D9E-541B-E6F1-23CF05DE51CE}"/>
              </a:ext>
            </a:extLst>
          </p:cNvPr>
          <p:cNvSpPr txBox="1"/>
          <p:nvPr/>
        </p:nvSpPr>
        <p:spPr>
          <a:xfrm>
            <a:off x="6661384" y="2517475"/>
            <a:ext cx="13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dobe Caslon Pro"/>
              </a:rPr>
              <a:t>Stochastic</a:t>
            </a:r>
            <a:endParaRPr lang="zh-CN" altLang="en-US" dirty="0">
              <a:solidFill>
                <a:srgbClr val="FF0000"/>
              </a:solidFill>
              <a:latin typeface="Adobe Caslon Pro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B1EA0D-3149-E408-6144-E970F0A75469}"/>
              </a:ext>
            </a:extLst>
          </p:cNvPr>
          <p:cNvSpPr txBox="1"/>
          <p:nvPr/>
        </p:nvSpPr>
        <p:spPr>
          <a:xfrm>
            <a:off x="5818458" y="3815232"/>
            <a:ext cx="146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dobe Caslon Pro"/>
              </a:rPr>
              <a:t>Unbalanced</a:t>
            </a:r>
            <a:endParaRPr lang="zh-CN" altLang="en-US" dirty="0">
              <a:solidFill>
                <a:srgbClr val="FF0000"/>
              </a:solidFill>
              <a:latin typeface="Adobe Caslon Pro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2AD66DE-6B60-DEA7-102A-DD8E9F8C6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600" dirty="0">
                <a:latin typeface="Adobe Caslon Pro"/>
              </a:rPr>
              <a:t>Dynamics = coupling + conditional path</a:t>
            </a:r>
          </a:p>
          <a:p>
            <a:endParaRPr lang="en-US" altLang="zh-CN" sz="2600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sz="2600" dirty="0">
              <a:latin typeface="Adobe Caslon Pro"/>
            </a:endParaRPr>
          </a:p>
        </p:txBody>
      </p:sp>
    </p:spTree>
    <p:extLst>
      <p:ext uri="{BB962C8B-B14F-4D97-AF65-F5344CB8AC3E}">
        <p14:creationId xmlns:p14="http://schemas.microsoft.com/office/powerpoint/2010/main" val="2613205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2601A-253A-99D0-4837-56691860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0B3FBD-A286-7B9D-C523-AB92A502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Marginalization trick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726EE4-B7D1-E257-4C49-60B17E584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b="1" dirty="0">
              <a:solidFill>
                <a:srgbClr val="FF0000"/>
              </a:solidFill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0CA250-6814-E6BC-AF29-CBE13A3F6DFA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686997-9D2A-03F7-9FDE-BB35755DF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058" y="1563269"/>
            <a:ext cx="3495063" cy="100625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4A03067-4CE3-03EB-B4E7-4DD980B24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281" y="1773217"/>
            <a:ext cx="2495514" cy="59704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09A2276-47FB-C345-5BF2-8F4571295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500" y="1516809"/>
            <a:ext cx="3246852" cy="117396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401D370-7A36-3F4B-6FA0-1AADF6209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4857" y="3118931"/>
            <a:ext cx="8882286" cy="3339058"/>
          </a:xfrm>
          <a:prstGeom prst="rect">
            <a:avLst/>
          </a:prstGeom>
        </p:spPr>
      </p:pic>
      <p:sp>
        <p:nvSpPr>
          <p:cNvPr id="27" name="箭头: 下 26">
            <a:extLst>
              <a:ext uri="{FF2B5EF4-FFF2-40B4-BE49-F238E27FC236}">
                <a16:creationId xmlns:a16="http://schemas.microsoft.com/office/drawing/2014/main" id="{5D1613D2-4412-CA33-AA26-B18E68FA8D13}"/>
              </a:ext>
            </a:extLst>
          </p:cNvPr>
          <p:cNvSpPr/>
          <p:nvPr/>
        </p:nvSpPr>
        <p:spPr>
          <a:xfrm rot="16200000">
            <a:off x="894500" y="4122515"/>
            <a:ext cx="421569" cy="85788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585474-6ACE-31E0-0696-F80E81DF33E2}"/>
              </a:ext>
            </a:extLst>
          </p:cNvPr>
          <p:cNvSpPr/>
          <p:nvPr/>
        </p:nvSpPr>
        <p:spPr>
          <a:xfrm>
            <a:off x="4749936" y="5922120"/>
            <a:ext cx="2282965" cy="535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AFA9B03-5315-C9C0-61F2-E5BE81A4385A}"/>
              </a:ext>
            </a:extLst>
          </p:cNvPr>
          <p:cNvSpPr txBox="1"/>
          <p:nvPr/>
        </p:nvSpPr>
        <p:spPr>
          <a:xfrm>
            <a:off x="7194761" y="6132810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Linear &amp;  local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720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FA7D-331B-8790-3647-CB8BC7AF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F8D3A-D5E1-38C2-B53A-64413FB31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Nonlocal effects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966582-0DBA-1804-1950-677B64401D39}"/>
              </a:ext>
            </a:extLst>
          </p:cNvPr>
          <p:cNvSpPr txBox="1"/>
          <p:nvPr/>
        </p:nvSpPr>
        <p:spPr>
          <a:xfrm>
            <a:off x="8898340" y="2729552"/>
            <a:ext cx="1630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63511C-F6D6-CE25-2421-D190BFFA8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53" y="2553366"/>
            <a:ext cx="5327416" cy="27366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4B45552-BF26-4325-8768-05E59DC4B434}"/>
              </a:ext>
            </a:extLst>
          </p:cNvPr>
          <p:cNvSpPr txBox="1"/>
          <p:nvPr/>
        </p:nvSpPr>
        <p:spPr>
          <a:xfrm>
            <a:off x="1089462" y="5633514"/>
            <a:ext cx="4619767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/>
              <a:t>Zhenyi</a:t>
            </a:r>
            <a:r>
              <a:rPr lang="en-US" altLang="zh-CN" sz="1200" dirty="0"/>
              <a:t> Zhang et. al, </a:t>
            </a:r>
            <a:r>
              <a:rPr lang="zh-CN" altLang="zh-CN" sz="1200" dirty="0"/>
              <a:t>Modeling Cell Dynamics and Interactions with Unbalanced Mean Field Schrödinger Bridge</a:t>
            </a:r>
            <a:r>
              <a:rPr lang="en-US" altLang="zh-CN" sz="1200" dirty="0"/>
              <a:t>. 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FBF7DF-EEE6-BC6E-80FC-C21FED65B8E4}"/>
              </a:ext>
            </a:extLst>
          </p:cNvPr>
          <p:cNvSpPr txBox="1"/>
          <p:nvPr/>
        </p:nvSpPr>
        <p:spPr>
          <a:xfrm>
            <a:off x="1540367" y="1949403"/>
            <a:ext cx="3462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dobe Caslon Pro"/>
              </a:rPr>
              <a:t>Cell-cell interaction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A58370E-E1ED-E31F-E5B1-02093AC4D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173" y="2553366"/>
            <a:ext cx="3955312" cy="281955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C0D5FED-FF21-1A9C-A7C7-B9D06C0B6B91}"/>
              </a:ext>
            </a:extLst>
          </p:cNvPr>
          <p:cNvSpPr txBox="1"/>
          <p:nvPr/>
        </p:nvSpPr>
        <p:spPr>
          <a:xfrm>
            <a:off x="7559633" y="1949403"/>
            <a:ext cx="3462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dobe Caslon Pro"/>
              </a:rPr>
              <a:t>Structural alignment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4D26C9F-F91E-5B89-5542-E9893C3EB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418" y="5498181"/>
            <a:ext cx="5780613" cy="45778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356E1E9C-2505-EBE8-497D-30F76E65D73F}"/>
              </a:ext>
            </a:extLst>
          </p:cNvPr>
          <p:cNvSpPr txBox="1"/>
          <p:nvPr/>
        </p:nvSpPr>
        <p:spPr>
          <a:xfrm>
            <a:off x="6784840" y="6375810"/>
            <a:ext cx="4619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Klein et. al, </a:t>
            </a:r>
            <a:r>
              <a:rPr lang="zh-CN" altLang="zh-CN" sz="1200" dirty="0"/>
              <a:t>Mapping cells through time and space with moscot</a:t>
            </a:r>
            <a:r>
              <a:rPr lang="en-US" altLang="zh-CN" sz="1200" dirty="0"/>
              <a:t> </a:t>
            </a:r>
            <a:endParaRPr lang="zh-CN" altLang="en-US" sz="1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8E5C042-6707-C886-3649-B7A430C8C214}"/>
              </a:ext>
            </a:extLst>
          </p:cNvPr>
          <p:cNvSpPr txBox="1"/>
          <p:nvPr/>
        </p:nvSpPr>
        <p:spPr>
          <a:xfrm>
            <a:off x="600394" y="6121488"/>
            <a:ext cx="7561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Adobe Caslon Pro"/>
              </a:rPr>
              <a:t>The</a:t>
            </a:r>
            <a:r>
              <a:rPr lang="zh-CN" altLang="en-US" sz="2800" b="1" dirty="0">
                <a:solidFill>
                  <a:srgbClr val="FF0000"/>
                </a:solidFill>
                <a:latin typeface="Adobe Caslon Pro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dobe Caslon Pro"/>
              </a:rPr>
              <a:t>conditional</a:t>
            </a:r>
            <a:r>
              <a:rPr lang="zh-CN" altLang="en-US" sz="2800" b="1" dirty="0">
                <a:solidFill>
                  <a:srgbClr val="FF0000"/>
                </a:solidFill>
                <a:latin typeface="Adobe Caslon Pro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dobe Caslon Pro"/>
              </a:rPr>
              <a:t>paths</a:t>
            </a:r>
            <a:r>
              <a:rPr lang="zh-CN" altLang="en-US" sz="2800" b="1" dirty="0">
                <a:solidFill>
                  <a:srgbClr val="FF0000"/>
                </a:solidFill>
                <a:latin typeface="Adobe Caslon Pro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dobe Caslon Pro"/>
              </a:rPr>
              <a:t>have</a:t>
            </a:r>
            <a:r>
              <a:rPr lang="zh-CN" altLang="en-US" sz="2800" b="1" dirty="0">
                <a:solidFill>
                  <a:srgbClr val="FF0000"/>
                </a:solidFill>
                <a:latin typeface="Adobe Caslon Pro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dobe Caslon Pro"/>
              </a:rPr>
              <a:t>to</a:t>
            </a:r>
            <a:r>
              <a:rPr lang="zh-CN" altLang="en-US" sz="2800" b="1" dirty="0">
                <a:solidFill>
                  <a:srgbClr val="FF0000"/>
                </a:solidFill>
                <a:latin typeface="Adobe Caslon Pro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dobe Caslon Pro"/>
              </a:rPr>
              <a:t>interact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340D187C-C2BD-5860-FAC3-75F78F9A9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5444" y="0"/>
            <a:ext cx="5539587" cy="195362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D4388427-3A48-675F-F942-14E9ECBC518F}"/>
              </a:ext>
            </a:extLst>
          </p:cNvPr>
          <p:cNvSpPr txBox="1"/>
          <p:nvPr/>
        </p:nvSpPr>
        <p:spPr>
          <a:xfrm>
            <a:off x="6784840" y="5962301"/>
            <a:ext cx="4619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/>
              <a:t>Zhengxin</a:t>
            </a:r>
            <a:r>
              <a:rPr lang="en-US" altLang="zh-CN" sz="1200" dirty="0"/>
              <a:t> Zhang et. al, </a:t>
            </a:r>
            <a:r>
              <a:rPr lang="zh-CN" altLang="zh-CN" sz="1200" dirty="0"/>
              <a:t>Gradient Flows and Riemannian Structure in the Gromov-Wasserstein Geometr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45009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F7AE-CDCB-120B-D47B-96869BF9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339B9-DB29-9251-C268-6C159BAF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Challenges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05DEA8-73E7-B441-AB65-ADB17CBE8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5754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latin typeface="Adobe Caslon Pro"/>
              </a:rPr>
              <a:t>Conditional paths only condition on endpoint pair, hence are independent.</a:t>
            </a:r>
          </a:p>
          <a:p>
            <a:endParaRPr lang="en-US" altLang="zh-CN" dirty="0">
              <a:latin typeface="Adobe Caslon Pro"/>
            </a:endParaRPr>
          </a:p>
          <a:p>
            <a:r>
              <a:rPr lang="en-US" altLang="zh-CN" dirty="0">
                <a:latin typeface="Adobe Caslon Pro"/>
              </a:rPr>
              <a:t>Interacting dynamics introduces nonlocal term into the continuity equation. The marginalization trick fails.</a:t>
            </a:r>
          </a:p>
          <a:p>
            <a:endParaRPr lang="en-US" altLang="zh-CN" dirty="0">
              <a:latin typeface="Adobe Caslon Pro"/>
            </a:endParaRPr>
          </a:p>
          <a:p>
            <a:r>
              <a:rPr lang="en-US" altLang="zh-CN" dirty="0">
                <a:latin typeface="Adobe Caslon Pro"/>
              </a:rPr>
              <a:t>To address these challenges, we consider how a pair of particles travel instead of how one particle travels. (</a:t>
            </a:r>
            <a:r>
              <a:rPr lang="en-US" altLang="zh-CN" b="1" dirty="0">
                <a:solidFill>
                  <a:srgbClr val="FF0000"/>
                </a:solidFill>
                <a:latin typeface="Adobe Caslon Pro"/>
              </a:rPr>
              <a:t>Travelling pairs</a:t>
            </a:r>
            <a:r>
              <a:rPr lang="en-US" altLang="zh-CN" dirty="0">
                <a:latin typeface="Adobe Caslon Pro"/>
              </a:rPr>
              <a:t>)</a:t>
            </a:r>
          </a:p>
          <a:p>
            <a:endParaRPr lang="en-US" altLang="zh-CN" dirty="0">
              <a:latin typeface="Adobe Caslon Pr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0512DC-4EE8-61CF-C896-8459BE756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962" y="4983173"/>
            <a:ext cx="3189448" cy="167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26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0F779-EDA1-3F7E-D337-D7D127E0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F88F2-B617-17F7-9354-373E87A1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Adobe Caslon Pro"/>
              </a:rPr>
              <a:t>Quadratic-form </a:t>
            </a:r>
            <a:r>
              <a:rPr lang="en-US" altLang="zh-CN" dirty="0">
                <a:latin typeface="Adobe Caslon Pro"/>
              </a:rPr>
              <a:t>OT (QOT)</a:t>
            </a:r>
            <a:endParaRPr lang="zh-CN" altLang="en-US" dirty="0">
              <a:latin typeface="Adobe Caslon Pro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6B33CE4-B0B7-AC54-5FDC-B276B4C7F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14" y="2068195"/>
            <a:ext cx="10386886" cy="34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13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29B5-4C1B-8418-4164-621C675B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67FB4-9475-80AE-1262-96683E0C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Travelling pair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B0E136-4ED9-6BD3-6277-FD7AA23E4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>
              <a:latin typeface="Adobe Caslon Pr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03944A-E9E1-7A0E-A980-FC68BDD71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68" y="1782667"/>
            <a:ext cx="9353662" cy="43513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57E1C13-3B06-5C55-A1D3-8D316C9DE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521" y="3272703"/>
            <a:ext cx="4931358" cy="48442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DE9E019-F9F7-87F8-5E51-2DFE62210787}"/>
              </a:ext>
            </a:extLst>
          </p:cNvPr>
          <p:cNvSpPr txBox="1"/>
          <p:nvPr/>
        </p:nvSpPr>
        <p:spPr>
          <a:xfrm>
            <a:off x="5928595" y="3330250"/>
            <a:ext cx="834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Eg.</a:t>
            </a:r>
            <a:endParaRPr lang="zh-CN" altLang="en-US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1DFB47-2D20-4D22-8A98-B7486F678A72}"/>
              </a:ext>
            </a:extLst>
          </p:cNvPr>
          <p:cNvSpPr/>
          <p:nvPr/>
        </p:nvSpPr>
        <p:spPr>
          <a:xfrm>
            <a:off x="9702425" y="3272703"/>
            <a:ext cx="1706607" cy="535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11B954-054D-F65B-3C3F-D988E0D67DB5}"/>
              </a:ext>
            </a:extLst>
          </p:cNvPr>
          <p:cNvSpPr txBox="1"/>
          <p:nvPr/>
        </p:nvSpPr>
        <p:spPr>
          <a:xfrm>
            <a:off x="9901140" y="3816628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Interaction term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388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D739-4176-2897-8E44-74A6725A2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AC425-EDD8-6F87-4C98-8E5E33AE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Dynamic QOT realization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A7426-46E4-8175-07CF-E0D5AEC11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>
              <a:latin typeface="Adobe Caslon Pr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1842EA-9FA6-0D65-DB33-73C5AEA5F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8" y="1825625"/>
            <a:ext cx="9765168" cy="408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05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009E8-37B9-1171-6562-60C41ADE3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24672-5867-A646-73D0-B0DEC4EE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The BB-form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51F899-FE50-A30E-771F-1B468C0BD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An analog to the BB-form in OT</a:t>
            </a: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endParaRPr lang="en-US" altLang="zh-CN" dirty="0">
              <a:latin typeface="Adobe Caslon Pro"/>
            </a:endParaRPr>
          </a:p>
          <a:p>
            <a:r>
              <a:rPr lang="en-US" altLang="zh-CN" dirty="0">
                <a:latin typeface="Adobe Caslon Pro"/>
              </a:rPr>
              <a:t>In this case, the static QOT is no longer equivalent to the BB-form. Only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9A669D-CF01-C6FC-4E3F-432A62529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393" y="2552827"/>
            <a:ext cx="8527214" cy="17523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EFE940-3B0B-F63B-5143-855021DFB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858" y="5131440"/>
            <a:ext cx="3958284" cy="6065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B3290A5-EB11-92AB-A999-B899937F344E}"/>
                  </a:ext>
                </a:extLst>
              </p:cNvPr>
              <p:cNvSpPr txBox="1"/>
              <p:nvPr/>
            </p:nvSpPr>
            <p:spPr>
              <a:xfrm>
                <a:off x="9328108" y="1817725"/>
                <a:ext cx="29088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The marginal distribution may not satisfy the tensor product from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B3290A5-EB11-92AB-A999-B899937F3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108" y="1817725"/>
                <a:ext cx="2908896" cy="1200329"/>
              </a:xfrm>
              <a:prstGeom prst="rect">
                <a:avLst/>
              </a:prstGeom>
              <a:blipFill>
                <a:blip r:embed="rId4"/>
                <a:stretch>
                  <a:fillRect l="-1677" t="-2538" r="-2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645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F2A3-06DC-D4F6-56D9-FCC44C0C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D6663-915E-1428-14DC-59461B9A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Conditional pair dynamics</a:t>
            </a:r>
            <a:endParaRPr lang="zh-CN" altLang="en-US" dirty="0">
              <a:latin typeface="Adobe Caslon Pro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598EFA-AB94-2E8E-C2C5-97F9D8443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21" y="1747210"/>
            <a:ext cx="10111358" cy="36532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A189D20-089F-E3D4-D7BD-DB41A7EEC699}"/>
                  </a:ext>
                </a:extLst>
              </p:cNvPr>
              <p:cNvSpPr txBox="1"/>
              <p:nvPr/>
            </p:nvSpPr>
            <p:spPr>
              <a:xfrm>
                <a:off x="8070040" y="3573846"/>
                <a:ext cx="290889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Linear and local to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A189D20-089F-E3D4-D7BD-DB41A7EEC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040" y="3573846"/>
                <a:ext cx="2908896" cy="923330"/>
              </a:xfrm>
              <a:prstGeom prst="rect">
                <a:avLst/>
              </a:prstGeom>
              <a:blipFill>
                <a:blip r:embed="rId3"/>
                <a:stretch>
                  <a:fillRect l="-1887" t="-3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466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6CCF-B67A-45A9-5CC6-3E2F08AB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B75A6-73AA-392F-A7C2-C120291D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Pair marginalization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FDF22B-CA9F-C890-5481-11AEBB29B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>
              <a:latin typeface="Adobe Caslon Pr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43EDFE-71F4-61CD-1F7F-251241305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25625"/>
            <a:ext cx="10625877" cy="43513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1542A09-687E-1565-6B00-D6E687A14B19}"/>
              </a:ext>
            </a:extLst>
          </p:cNvPr>
          <p:cNvSpPr txBox="1"/>
          <p:nvPr/>
        </p:nvSpPr>
        <p:spPr>
          <a:xfrm>
            <a:off x="8880113" y="3077964"/>
            <a:ext cx="2908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Can be learned by flow matching</a:t>
            </a:r>
          </a:p>
          <a:p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795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9AC0-0123-9DC2-E405-F77CCC2D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6B30725-D4BD-8976-7539-5FFF3B607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54" y="1879416"/>
            <a:ext cx="9336794" cy="362358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082922-4F2A-7B02-ECA1-95010EF5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Particle marginalization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0DCE85-E14D-D914-0084-3DB6B3959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454" y="5691728"/>
            <a:ext cx="10347346" cy="92333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dobe Caslon Pro"/>
              </a:rPr>
              <a:t>We start at a travelling pair setting, and travel back to the single particle transport setting by marginalization.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302851-C938-091C-B829-15E0A3D7DABE}"/>
              </a:ext>
            </a:extLst>
          </p:cNvPr>
          <p:cNvSpPr txBox="1"/>
          <p:nvPr/>
        </p:nvSpPr>
        <p:spPr>
          <a:xfrm>
            <a:off x="6840612" y="4163758"/>
            <a:ext cx="53513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Intuitively, the particle velocity of X marginalizes the interaction effect over all possible partners Y</a:t>
            </a:r>
          </a:p>
          <a:p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217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5D88-7CCC-3C53-D752-21331E56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B87AF-326F-471B-169F-93EB8383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Travelling pair flow matching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013B9-1008-77D5-1D7F-8ACE6B525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>
              <a:latin typeface="Adobe Caslon Pr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A59622-13D6-2015-CF99-87A9A9FA6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9422718" cy="356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2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2C9E1-BFD6-EF9C-DBB5-30B0643E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495BA-C7ED-0171-BE5B-578471FEC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Velocity decomposition</a:t>
            </a:r>
            <a:endParaRPr lang="zh-CN" altLang="en-US" dirty="0">
              <a:latin typeface="Adobe Caslon Pro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B607D7-75F0-E312-5269-12C31D72A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Suppose we have some velocity decomposition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8A70CD-B495-977B-2131-BBBA1BD51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625" y="2393396"/>
            <a:ext cx="3198750" cy="5852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B56665A-8600-5ECA-5DE9-928B4B89BE18}"/>
              </a:ext>
            </a:extLst>
          </p:cNvPr>
          <p:cNvSpPr txBox="1"/>
          <p:nvPr/>
        </p:nvSpPr>
        <p:spPr>
          <a:xfrm>
            <a:off x="6819537" y="3267269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Interaction-driven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5FDB75-7F11-DD16-DD95-0CFAD20B011A}"/>
              </a:ext>
            </a:extLst>
          </p:cNvPr>
          <p:cNvSpPr txBox="1"/>
          <p:nvPr/>
        </p:nvSpPr>
        <p:spPr>
          <a:xfrm>
            <a:off x="5211871" y="3267269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Self-driven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9A94163F-8A9D-BA94-4E2B-EAA59695DB1E}"/>
              </a:ext>
            </a:extLst>
          </p:cNvPr>
          <p:cNvSpPr/>
          <p:nvPr/>
        </p:nvSpPr>
        <p:spPr>
          <a:xfrm rot="1552970">
            <a:off x="5875157" y="3027820"/>
            <a:ext cx="150396" cy="21302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90197A77-DC66-90A7-BF75-BBDDEEC6E4B4}"/>
              </a:ext>
            </a:extLst>
          </p:cNvPr>
          <p:cNvSpPr/>
          <p:nvPr/>
        </p:nvSpPr>
        <p:spPr>
          <a:xfrm rot="20367844">
            <a:off x="7538469" y="3043517"/>
            <a:ext cx="125170" cy="20361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D33891C-6B65-D150-457B-2D7CD00C2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384" y="3777884"/>
            <a:ext cx="4430875" cy="687141"/>
          </a:xfrm>
          <a:prstGeom prst="rect">
            <a:avLst/>
          </a:prstGeom>
        </p:spPr>
      </p:pic>
      <p:sp>
        <p:nvSpPr>
          <p:cNvPr id="18" name="箭头: 下 17">
            <a:extLst>
              <a:ext uri="{FF2B5EF4-FFF2-40B4-BE49-F238E27FC236}">
                <a16:creationId xmlns:a16="http://schemas.microsoft.com/office/drawing/2014/main" id="{3861D734-1302-9F43-22F6-13D6B651338F}"/>
              </a:ext>
            </a:extLst>
          </p:cNvPr>
          <p:cNvSpPr/>
          <p:nvPr/>
        </p:nvSpPr>
        <p:spPr>
          <a:xfrm rot="16200000">
            <a:off x="2627637" y="3336075"/>
            <a:ext cx="265502" cy="157075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600E52-2C06-9003-2F9F-F1D4DA1A8F9C}"/>
              </a:ext>
            </a:extLst>
          </p:cNvPr>
          <p:cNvSpPr txBox="1"/>
          <p:nvPr/>
        </p:nvSpPr>
        <p:spPr>
          <a:xfrm>
            <a:off x="1111753" y="3593218"/>
            <a:ext cx="345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Single-particle marginalization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F43D12CA-38B4-9616-420B-BDC73B35C26B}"/>
              </a:ext>
            </a:extLst>
          </p:cNvPr>
          <p:cNvSpPr/>
          <p:nvPr/>
        </p:nvSpPr>
        <p:spPr>
          <a:xfrm>
            <a:off x="5124587" y="4436755"/>
            <a:ext cx="331942" cy="61921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F19FFEA-F139-856A-ABE1-63DFA78A177B}"/>
              </a:ext>
            </a:extLst>
          </p:cNvPr>
          <p:cNvSpPr txBox="1"/>
          <p:nvPr/>
        </p:nvSpPr>
        <p:spPr>
          <a:xfrm>
            <a:off x="5556231" y="4415296"/>
            <a:ext cx="6311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The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marginal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dynamics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can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be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viewed as an approximation to the mean-field dynamics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0DB65DED-0CB8-6BBB-C72B-B70C93298122}"/>
              </a:ext>
            </a:extLst>
          </p:cNvPr>
          <p:cNvSpPr/>
          <p:nvPr/>
        </p:nvSpPr>
        <p:spPr>
          <a:xfrm rot="16200000">
            <a:off x="1917580" y="5442746"/>
            <a:ext cx="265502" cy="157075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4B672E5-2C32-78C3-7519-C9FF0E458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286" y="5641452"/>
            <a:ext cx="1758089" cy="386453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E475436-852B-DDE3-55D5-6255E0E45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103" y="5075953"/>
            <a:ext cx="6083932" cy="64633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E2592A97-60FF-DD1D-C719-A26B1837C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3416" y="5938047"/>
            <a:ext cx="5704567" cy="59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40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FA597-963D-C04A-657E-E26E3046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An</a:t>
            </a:r>
            <a:r>
              <a:rPr lang="zh-CN" altLang="en-US" dirty="0">
                <a:latin typeface="Adobe Caslon Pro"/>
              </a:rPr>
              <a:t> </a:t>
            </a:r>
            <a:r>
              <a:rPr lang="en-US" altLang="zh-CN" dirty="0">
                <a:latin typeface="Adobe Caslon Pro"/>
              </a:rPr>
              <a:t>example – GW-OT as a limit case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1BBEC41E-ADBF-2B13-973D-9708C1559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1520" y="2944573"/>
            <a:ext cx="5208951" cy="9688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00C36C-79ED-9972-D8EE-43C7CAD8A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04" y="4288904"/>
            <a:ext cx="10428787" cy="25690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64A0A7-1BBE-B969-B5B0-87CF507F5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876" y="1763532"/>
            <a:ext cx="5372241" cy="80556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F729401-2EB0-E637-429F-50668271A4D6}"/>
              </a:ext>
            </a:extLst>
          </p:cNvPr>
          <p:cNvSpPr txBox="1"/>
          <p:nvPr/>
        </p:nvSpPr>
        <p:spPr>
          <a:xfrm>
            <a:off x="8343196" y="2457274"/>
            <a:ext cx="3010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Geometric distortion term for structure preservation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A46EA1A-5DF4-0799-0D01-E1323C5663C3}"/>
              </a:ext>
            </a:extLst>
          </p:cNvPr>
          <p:cNvSpPr txBox="1"/>
          <p:nvPr/>
        </p:nvSpPr>
        <p:spPr>
          <a:xfrm>
            <a:off x="5259016" y="1578866"/>
            <a:ext cx="2445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Kinetic energy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077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2EE6-DA47-114E-BF4B-D6AC6428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5F14C-8A72-2D85-5CF3-3D463C19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Caslon Pro"/>
              </a:rPr>
              <a:t>Summary</a:t>
            </a:r>
            <a:endParaRPr lang="zh-CN" altLang="en-US" dirty="0">
              <a:latin typeface="Adobe Caslon Pro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0D5FA3-9B2E-26EB-3DA5-01436ECB8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39" y="4789264"/>
            <a:ext cx="8725321" cy="15589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A9A19D4-37DE-290E-4FD6-133BB26E4B19}"/>
              </a:ext>
            </a:extLst>
          </p:cNvPr>
          <p:cNvSpPr txBox="1"/>
          <p:nvPr/>
        </p:nvSpPr>
        <p:spPr>
          <a:xfrm>
            <a:off x="6270995" y="4419932"/>
            <a:ext cx="224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Original optimizer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920EDE-4CCD-9395-C7C6-25FB87B1DA38}"/>
              </a:ext>
            </a:extLst>
          </p:cNvPr>
          <p:cNvSpPr txBox="1"/>
          <p:nvPr/>
        </p:nvSpPr>
        <p:spPr>
          <a:xfrm>
            <a:off x="8626616" y="4419932"/>
            <a:ext cx="2727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The transport of interest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AA7200-4244-8A90-D383-C02CD695D4FC}"/>
              </a:ext>
            </a:extLst>
          </p:cNvPr>
          <p:cNvSpPr txBox="1"/>
          <p:nvPr/>
        </p:nvSpPr>
        <p:spPr>
          <a:xfrm>
            <a:off x="8009341" y="6348168"/>
            <a:ext cx="307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For further interpretability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2FD0BC6C-1AAC-DBE4-3240-F2EEC0877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CN" dirty="0">
                <a:latin typeface="Adobe Caslon Pro"/>
              </a:rPr>
              <a:t>Flow matching with interacting conditional paths</a:t>
            </a:r>
          </a:p>
          <a:p>
            <a:r>
              <a:rPr lang="en-US" altLang="zh-CN" dirty="0">
                <a:latin typeface="Adobe Caslon Pro"/>
              </a:rPr>
              <a:t>Dynamic realization for QOT </a:t>
            </a:r>
          </a:p>
          <a:p>
            <a:r>
              <a:rPr lang="en-US" altLang="zh-CN" dirty="0">
                <a:latin typeface="Adobe Caslon Pro"/>
              </a:rPr>
              <a:t>Given velocity decomposition gauges, the marginal dynamics can be viewed as an approximation to the mean-field dynamics. Here are potentials of simulation-free interaction dynamics modeling.</a:t>
            </a:r>
          </a:p>
        </p:txBody>
      </p:sp>
    </p:spTree>
    <p:extLst>
      <p:ext uri="{BB962C8B-B14F-4D97-AF65-F5344CB8AC3E}">
        <p14:creationId xmlns:p14="http://schemas.microsoft.com/office/powerpoint/2010/main" val="252625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DC467B5-5867-8B6E-B4C1-3B88D48EE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593" y="2425959"/>
            <a:ext cx="1505339" cy="22439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D378187-2AFF-AEB0-F9DE-D538B535F0E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22102" y="2425959"/>
            <a:ext cx="1579249" cy="22415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022B53B-B6B4-1C36-DEDC-EC848E55B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779" y="2425960"/>
            <a:ext cx="1684080" cy="224158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DB31A05-D91B-B9E4-9966-C72DB9F77438}"/>
              </a:ext>
            </a:extLst>
          </p:cNvPr>
          <p:cNvSpPr txBox="1"/>
          <p:nvPr/>
        </p:nvSpPr>
        <p:spPr>
          <a:xfrm>
            <a:off x="3162229" y="4742567"/>
            <a:ext cx="116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dobe Caslon Pro"/>
              </a:rPr>
              <a:t>Lei Zhang</a:t>
            </a:r>
            <a:endParaRPr lang="zh-CN" altLang="en-US" sz="1600" dirty="0">
              <a:latin typeface="Adobe Caslon Pro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71A14D-895F-836D-EA9D-6CD71D5E5180}"/>
              </a:ext>
            </a:extLst>
          </p:cNvPr>
          <p:cNvSpPr txBox="1"/>
          <p:nvPr/>
        </p:nvSpPr>
        <p:spPr>
          <a:xfrm>
            <a:off x="5750477" y="4742567"/>
            <a:ext cx="1261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Adobe Caslon Pro"/>
              </a:rPr>
              <a:t>Peijie</a:t>
            </a:r>
            <a:r>
              <a:rPr lang="en-US" altLang="zh-CN" sz="1600" dirty="0">
                <a:latin typeface="Adobe Caslon Pro"/>
              </a:rPr>
              <a:t> Zhou</a:t>
            </a:r>
            <a:endParaRPr lang="zh-CN" altLang="en-US" sz="1600" dirty="0">
              <a:latin typeface="Adobe Caslon Pro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ED748C-355A-F0B5-8CC5-18F7C9731D43}"/>
              </a:ext>
            </a:extLst>
          </p:cNvPr>
          <p:cNvSpPr txBox="1"/>
          <p:nvPr/>
        </p:nvSpPr>
        <p:spPr>
          <a:xfrm>
            <a:off x="8111720" y="4742567"/>
            <a:ext cx="1508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dobe Caslon Pro"/>
              </a:rPr>
              <a:t>Zhiwei Zeng</a:t>
            </a:r>
            <a:endParaRPr lang="zh-CN" altLang="en-US" sz="1600" dirty="0">
              <a:latin typeface="Adobe Caslon Pro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F272B21D-72A0-E606-AA8F-DEFE1487F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dobe Caslon Pro"/>
              </a:rPr>
              <a:t>Acknowledgement</a:t>
            </a:r>
            <a:endParaRPr lang="zh-CN" altLang="en-US" dirty="0">
              <a:latin typeface="Adobe Caslon Pro"/>
            </a:endParaRPr>
          </a:p>
        </p:txBody>
      </p:sp>
    </p:spTree>
    <p:extLst>
      <p:ext uri="{BB962C8B-B14F-4D97-AF65-F5344CB8AC3E}">
        <p14:creationId xmlns:p14="http://schemas.microsoft.com/office/powerpoint/2010/main" val="1920401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15671</TotalTime>
  <Words>1132</Words>
  <Application>Microsoft Office PowerPoint</Application>
  <PresentationFormat>宽屏</PresentationFormat>
  <Paragraphs>162</Paragraphs>
  <Slides>28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Adobe Caslon Pro</vt:lpstr>
      <vt:lpstr>等线</vt:lpstr>
      <vt:lpstr>等线 Light</vt:lpstr>
      <vt:lpstr>Arial</vt:lpstr>
      <vt:lpstr>Cambria</vt:lpstr>
      <vt:lpstr>Cambria Math</vt:lpstr>
      <vt:lpstr>Office 主题​​</vt:lpstr>
      <vt:lpstr>TP-DATE</vt:lpstr>
      <vt:lpstr>Snapshots  Continuous interpolation </vt:lpstr>
      <vt:lpstr>Weighted Particles</vt:lpstr>
      <vt:lpstr>Flow Matching (FM)</vt:lpstr>
      <vt:lpstr>Conditional Flow Matching (CFM) </vt:lpstr>
      <vt:lpstr>Learning marginal by conditions</vt:lpstr>
      <vt:lpstr>Optimal Transport (OT)</vt:lpstr>
      <vt:lpstr>OT-CFM</vt:lpstr>
      <vt:lpstr>Schrödinger bridge </vt:lpstr>
      <vt:lpstr>KL disintegration</vt:lpstr>
      <vt:lpstr>KL disintegration</vt:lpstr>
      <vt:lpstr>Unbalanced OT</vt:lpstr>
      <vt:lpstr>Key observation</vt:lpstr>
      <vt:lpstr>Marginalization trick</vt:lpstr>
      <vt:lpstr>Nonlocal effects</vt:lpstr>
      <vt:lpstr>Challenges</vt:lpstr>
      <vt:lpstr>Quadratic-form OT (QOT)</vt:lpstr>
      <vt:lpstr>Travelling pair</vt:lpstr>
      <vt:lpstr>Dynamic QOT realization</vt:lpstr>
      <vt:lpstr>The BB-form</vt:lpstr>
      <vt:lpstr>Conditional pair dynamics</vt:lpstr>
      <vt:lpstr>Pair marginalization</vt:lpstr>
      <vt:lpstr>Particle marginalization</vt:lpstr>
      <vt:lpstr>Travelling pair flow matching</vt:lpstr>
      <vt:lpstr>Velocity decomposition</vt:lpstr>
      <vt:lpstr>An example – GW-OT as a limit case</vt:lpstr>
      <vt:lpstr>Summary</vt:lpstr>
      <vt:lpstr>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骏达 应</dc:creator>
  <cp:lastModifiedBy>骏达 应</cp:lastModifiedBy>
  <cp:revision>196</cp:revision>
  <dcterms:created xsi:type="dcterms:W3CDTF">2024-10-02T08:11:01Z</dcterms:created>
  <dcterms:modified xsi:type="dcterms:W3CDTF">2026-10-20T03:46:11Z</dcterms:modified>
</cp:coreProperties>
</file>